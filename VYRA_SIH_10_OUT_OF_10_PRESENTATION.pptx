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109441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SMART INDIA HACKATHON 2024</a:t>
            </a:r>
          </a:p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IDEA SUBMISSION • PRELIMINARY SCREENING 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Problem Statement ID: </a:t>
            </a:r>
            <a:r>
              <a:rPr sz="1250" b="1">
                <a:solidFill>
                  <a:srgbClr val="0F172A"/>
                </a:solidFill>
                <a:latin typeface="Arial"/>
              </a:rPr>
              <a:t>SIH-1720 / Open Innovation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Problem Statement Title: </a:t>
            </a:r>
            <a:r>
              <a:rPr sz="1250" b="1">
                <a:solidFill>
                  <a:srgbClr val="0F172A"/>
                </a:solidFill>
                <a:latin typeface="Arial"/>
              </a:rPr>
              <a:t>Autonomous Chrono-Adaptive Fitness &amp; Health Management Ecosystem for Diverse Lifestyles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Theme: </a:t>
            </a:r>
            <a:r>
              <a:rPr sz="1250" b="1">
                <a:solidFill>
                  <a:srgbClr val="0F172A"/>
                </a:solidFill>
                <a:latin typeface="Arial"/>
              </a:rPr>
              <a:t>Healthcare &amp; Biomedical Devices / MedTech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PS Category: </a:t>
            </a:r>
            <a:r>
              <a:rPr sz="1250" b="1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Team ID: </a:t>
            </a:r>
            <a:r>
              <a:rPr sz="1250" b="1">
                <a:solidFill>
                  <a:srgbClr val="0F172A"/>
                </a:solidFill>
                <a:latin typeface="Arial"/>
              </a:rPr>
              <a:t>13859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Team Name: </a:t>
            </a:r>
            <a:r>
              <a:rPr sz="1250" b="1">
                <a:solidFill>
                  <a:srgbClr val="0F172A"/>
                </a:solidFill>
                <a:latin typeface="Arial"/>
              </a:rPr>
              <a:t>Tech Conqueror / Team VYRA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Team Leader: </a:t>
            </a:r>
            <a:r>
              <a:rPr sz="1250" b="1">
                <a:solidFill>
                  <a:srgbClr val="10B981"/>
                </a:solidFill>
                <a:latin typeface="Arial"/>
              </a:rPr>
              <a:t>Ayush Singh Bhadoria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284C7"/>
                </a:solidFill>
                <a:latin typeface="Arial"/>
              </a:rPr>
              <a:t>Institute Details: </a:t>
            </a:r>
            <a:r>
              <a:rPr sz="1250" b="0">
                <a:solidFill>
                  <a:srgbClr val="64748B"/>
                </a:solidFill>
                <a:latin typeface="Arial"/>
              </a:rPr>
              <a:t>Ajay Kumar Garg Engineering College (AISHE: C-46109)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645920"/>
            <a:ext cx="469361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defRPr sz="3000" b="1">
                <a:solidFill>
                  <a:srgbClr val="0F172A"/>
                </a:solidFill>
                <a:latin typeface="Arial"/>
              </a:defRPr>
            </a:pPr>
            <a:r>
              <a:t>PROJECT VYRA</a:t>
            </a:r>
          </a:p>
          <a:p>
            <a:pPr>
              <a:spcAft>
                <a:spcPts val="16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Autonomous Chrono-Adaptive Fitness Ecosystem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⚡ 1-Tap Chrono Engine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Dynamic time-compression matching real-life calendar windows (17-min student micro-burst to 45-min full burn).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🥗 Bharat Nutrition AI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Gemini 1.5 Flash Vision for Indian thalis &amp; regional diets + OpenFoodFacts local barcode scanner.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🛡️ Zero-Trust Medical Circuit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Deterministic clinical guardrails override AI generation to block high intensity on abnormal biomarkers.</a:t>
            </a:r>
          </a:p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🏆 National Leaderboard &amp; SOS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Arial"/>
              </a:defRPr>
            </a:pPr>
            <a:r>
              <a:t>Verified athletic streaks, community challenges, and emergency beacon location broadcast.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Problem Statement &amp; Proposed Solution Approach</a:t>
            </a:r>
          </a:p>
          <a:p>
            <a:pPr>
              <a:defRPr sz="1100" b="0">
                <a:solidFill>
                  <a:srgbClr val="0284C7"/>
                </a:solidFill>
                <a:latin typeface="Arial"/>
              </a:defRPr>
            </a:pPr>
            <a:r>
              <a:t>Addressing the 84% Indian fitness dropout rate caused by rigid schedules &amp; Western-centric apps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02920"/>
            <a:ext cx="1600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2024 • Slide 2/6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11480"/>
          </a:xfrm>
          <a:prstGeom prst="roundRect">
            <a:avLst/>
          </a:prstGeom>
          <a:solidFill>
            <a:srgbClr val="FFE4E6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E11D48"/>
                </a:solidFill>
                <a:latin typeface="Arial"/>
              </a:defRPr>
            </a:pPr>
            <a:r>
              <a:t>⚠️ THE CORE PROBLEM (Current Industry Gaps)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84% Dropout Due to Schedule Rigidity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Standard apps demand rigid 60-minute blocks. When 12-hour hospital shift nurses or coaching students have only 15-20 mins, they skip entirely, destroying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39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The 'Bharat Nutrition' Data Gap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Western fitness apps fail to accurately map diverse Indian home diets (Dal, Roti, Khichdi, Idli, Regional Thalis), leading to severe macro inaccuracies and user frustration.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4340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Unchecked Hallucination &amp; Medical Risk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Generic LLM health chatbots prescribe intense HIIT workouts even when resting heart rate or biomarkers indicate severe fatigue, risking athlete injury or cardiac distress.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25135" cy="41148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💡 THE VYRA SOLUTION (Autonomous Adaptation)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2513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Autonomous Chrono-Adaptive Engine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Scans dynamic daily calendar availability and fatigue indicators to instantly compress or scale routines (e.g. 17m student burst vs 15m post-shift seated recovery).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39"/>
            <a:ext cx="542513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Multimodal Indian Diet &amp; Barcode AI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Integrates Gemini 1.5 Flash Vision for complex Indian thali macro breakdown combined with OpenFoodFacts local barcode catalog with zero-latency offline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42513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Zero-Trust Medical Circuit Breaker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Deterministic clinical safety gate: hard medical thresholds (resting HR spikes, abnormal glucose/BP) completely suppress high intensity and mandate doctor referral.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11094415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KEY INNOVATIONS THAT SET VYRA APART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1. Sub-100ms Deterministic Rule Execution   |   2. Offline-First Hive Delta Sync   |   3. 1-Tap Persona Switch   |   4. Zero-Hallucination Safety Circuit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Technical Architecture &amp; System Dataflow</a:t>
            </a:r>
          </a:p>
          <a:p>
            <a:pPr>
              <a:defRPr sz="1100" b="0">
                <a:solidFill>
                  <a:srgbClr val="0284C7"/>
                </a:solidFill>
                <a:latin typeface="Arial"/>
              </a:defRPr>
            </a:pPr>
            <a:r>
              <a:t>Production monorepo architecture with sub-100ms response time and dual safety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02920"/>
            <a:ext cx="1600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2024 • Slide 3/6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1. CLIENT LAYER (Flutter Mobile &amp; Web)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Flutter 3.x Cross-Platform Engine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Single codebase for iOS, Android, and Web PWA.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Dual Theme System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Classic Bright ☀️ &amp; Obsidian Dark 🌙 with instant toggle.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Local Hive &amp; SQLite DB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Instant offline access to cached workouts and nutrition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280160"/>
            <a:ext cx="2651760" cy="502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Arial"/>
              </a:defRPr>
            </a:pPr>
            <a:r>
              <a:t>2. GATEWAY &amp; API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874519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Node.js + Express (TypeScript)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Strictly typed REST API endpoints with robust validation.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JWT &amp; Role Auth Guards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Zero-trust session authorization and rate-limiting.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PostgreSQL with Prisma ORM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Relational persistence for athletes, routines, and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280160"/>
            <a:ext cx="265176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3. INTELLIGENCE &amp; VISION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74519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Chrono-Adaptive Rule Matrix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Deterministic mathematical engine calculating time-compression.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Gemini 1.5 Flash Vision AI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Multimodal deep visual parsing of complex Indian thalis.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OpenFoodFacts Barcode API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Direct barcode resolution with offline local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0264" y="1280160"/>
            <a:ext cx="2651760" cy="50292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11D48"/>
                </a:solidFill>
                <a:latin typeface="Arial"/>
              </a:defRPr>
            </a:pPr>
            <a:r>
              <a:t>4. ZERO-TRUST SAFETY CIRCUIT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4" y="1874519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Deterministic Clinical Guardrails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ACSM &amp; ICMR medical threshold rules override AI outputs.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Biometric Spike Protection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Auto-downgrades intense cardio when resting HR spikes.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Mandatory Medical Referral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t>Prompts doctor consultation upon detecting safety flags.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868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PRODUCTION VERIFICATION &amp; CODE METRICS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✅ 168 / 168 Backend Test Suites Passing   |   ✅ 12 / 12 End-to-End Test Suites Passing   |   ✅ 0 Flutter Analyze Linter Warnings   |   ⚡ &lt; 100ms API Response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Layouts, Prototypes &amp; Mobile Experience</a:t>
            </a:r>
          </a:p>
          <a:p>
            <a:pPr>
              <a:defRPr sz="1100" b="0">
                <a:solidFill>
                  <a:srgbClr val="0284C7"/>
                </a:solidFill>
                <a:latin typeface="Arial"/>
              </a:defRPr>
            </a:pPr>
            <a:r>
              <a:t>Clean, airy pastel interface with 3-column stats, rank badges, and live persona adaptation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02920"/>
            <a:ext cx="1600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2024 • Slide 4/6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98448"/>
            <a:ext cx="2651760" cy="5193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on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89888"/>
            <a:ext cx="2011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54880"/>
            <a:ext cx="2286000" cy="29260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⏱ Goal &amp; Pace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074920"/>
            <a:ext cx="2432304" cy="1325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Home Training Hub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3-Column Metrics (87% Goal Pace, 2,450 Pts, 18-Day Streak). Student 17-min micro-burst routine.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298448"/>
            <a:ext cx="2651760" cy="5193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one_n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389888"/>
            <a:ext cx="2011680" cy="3291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38728" y="4754880"/>
            <a:ext cx="2286000" cy="29260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⚡ Dynamic Time-Compression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5074920"/>
            <a:ext cx="2432304" cy="1325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1-Tap Persona Adaptation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Nurse Priya 12-hr shift detected: intense cardio auto-replaced with 15m seated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298448"/>
            <a:ext cx="2651760" cy="5193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_dra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389888"/>
            <a:ext cx="2011680" cy="3291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45936" y="4754880"/>
            <a:ext cx="2286000" cy="29260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🏆 National Leaderboard 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5074920"/>
            <a:ext cx="2432304" cy="1325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Side Drawer &amp; Leaderboard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National Rank #4 Badge, athlete profile, emergency SOS, and system settings navigation.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298448"/>
            <a:ext cx="2651760" cy="5193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389888"/>
            <a:ext cx="2011680" cy="32918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153144" y="4754880"/>
            <a:ext cx="2286000" cy="29260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🌙 Dual Theme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5074920"/>
            <a:ext cx="2432304" cy="132588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Obsidian Dark Engine</a:t>
            </a:r>
          </a:p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OLED battery-saving dark mode with high contrast for night shifts and low-light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Feasibility Analysis &amp; Potential Challenges</a:t>
            </a:r>
          </a:p>
          <a:p>
            <a:pPr>
              <a:defRPr sz="1100" b="0">
                <a:solidFill>
                  <a:srgbClr val="0284C7"/>
                </a:solidFill>
                <a:latin typeface="Arial"/>
              </a:defRPr>
            </a:pPr>
            <a:r>
              <a:t>Comprehensive evaluation across technical, operational, financial, and clinical dimensions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02920"/>
            <a:ext cx="1600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2024 • Slide 5/6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01. TECHNOLOGICAL FEASIBILITY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Cross-Platform Single Codebase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Flutter enables native 60fps performance on both Android &amp; iOS from one codebase.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Offline-First Resilience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Local Hive storage ensures full workout navigation even in zero-network gym basements.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2801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02. OPERATIONAL FEASIBILITY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Sub-100ms Deterministic Execution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Chrono rule engine executes math matrices locally without heavy server latency.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Zero Heavy GPU Server Load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Core workout scheduling requires zero LLM API dependency; AI used strictly for 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801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8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03. FINANCIAL FEASIBILITY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Sustainable B2C Freemium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Core adaptive workouts &amp; community are 100% free; premium AI biometric diagnostics monetized.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B2B Corporate &amp; Healthcare Wellness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Partnerships with hospitals and IT firms to reduce standing/desk fatigue for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0264" y="12801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800"/>
              </a:spcAft>
              <a:defRPr sz="1000" b="1">
                <a:solidFill>
                  <a:srgbClr val="E11D48"/>
                </a:solidFill>
                <a:latin typeface="Arial"/>
              </a:defRPr>
            </a:pPr>
            <a:r>
              <a:t>04. SOCIAL &amp; CLINICAL SAFETY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Zero-Trust Medical Guardrails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ACSM &amp; ICMR clinical thresholds override any generative AI advice on high biomarker readings.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Tier-2 / Tier-3 Inclusivity</a:t>
            </a:r>
          </a:p>
          <a:p>
            <a:pPr>
              <a:spcAft>
                <a:spcPts val="600"/>
              </a:spcAft>
              <a:defRPr sz="880">
                <a:solidFill>
                  <a:srgbClr val="64748B"/>
                </a:solidFill>
                <a:latin typeface="Arial"/>
              </a:defRPr>
            </a:pPr>
            <a:r>
              <a:t>Multilingual localization and low-bandwidth optimization designed for all Indian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11094415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POTENTIAL CHALLENGES &amp; PROVEN MITIGATION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94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182880"/>
          <a:lstStyle/>
          <a:p>
            <a:pPr algn="ctr"/>
            <a:r>
              <a:rPr sz="1050" b="1">
                <a:solidFill>
                  <a:srgbClr val="E11D48"/>
                </a:solidFill>
                <a:latin typeface="Arial"/>
              </a:rPr>
              <a:t>Challenge 1: AI Hallucinations in Health Advice  |  </a:t>
            </a:r>
            <a:r>
              <a:rPr sz="1000" b="0">
                <a:solidFill>
                  <a:srgbClr val="0F172A"/>
                </a:solidFill>
                <a:latin typeface="Arial"/>
              </a:rPr>
              <a:t>Mitigation: Deterministic Medical Circuit Breaker strictly overrides LLM outputs with hard-coded clinical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38344"/>
            <a:ext cx="11094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182880"/>
          <a:lstStyle/>
          <a:p>
            <a:pPr algn="ctr"/>
            <a:r>
              <a:rPr sz="1050" b="1">
                <a:solidFill>
                  <a:srgbClr val="E11D48"/>
                </a:solidFill>
                <a:latin typeface="Arial"/>
              </a:rPr>
              <a:t>Challenge 2: Inconsistent Internet in Tier-3 Bharat  |  </a:t>
            </a:r>
            <a:r>
              <a:rPr sz="1000" b="0">
                <a:solidFill>
                  <a:srgbClr val="0F172A"/>
                </a:solidFill>
                <a:latin typeface="Arial"/>
              </a:rPr>
              <a:t>Mitigation: Offline-first Hive architecture caches routines locally and queues delta-sync upon reconnection.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33288"/>
            <a:ext cx="1109441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 rIns="182880"/>
          <a:lstStyle/>
          <a:p>
            <a:pPr algn="ctr"/>
            <a:r>
              <a:rPr sz="1050" b="1">
                <a:solidFill>
                  <a:srgbClr val="E11D48"/>
                </a:solidFill>
                <a:latin typeface="Arial"/>
              </a:rPr>
              <a:t>Challenge 3: Complex Regional Indian Dietary Diversity  |  </a:t>
            </a:r>
            <a:r>
              <a:rPr sz="1000" b="0">
                <a:solidFill>
                  <a:srgbClr val="0F172A"/>
                </a:solidFill>
                <a:latin typeface="Arial"/>
              </a:rPr>
              <a:t>Mitigation: Multimodal Gemini 1.5 Flash Vision trained on Indian recipes + OpenFoodFacts local barcode catalog.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Benefits, Research Grounding &amp; Live Verification</a:t>
            </a:r>
          </a:p>
          <a:p>
            <a:pPr>
              <a:defRPr sz="1100" b="0">
                <a:solidFill>
                  <a:srgbClr val="0284C7"/>
                </a:solidFill>
                <a:latin typeface="Arial"/>
              </a:defRPr>
            </a:pPr>
            <a:r>
              <a:t>Quantifiable impact, peer-reviewed medical foundations, and verifiable live submission links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02920"/>
            <a:ext cx="1600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SIH 2024 • Slide 6/6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36576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🎯 TARGET AUDIENCE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Healthcare &amp; Shift Workers</a:t>
            </a:r>
          </a:p>
          <a:p>
            <a:pPr>
              <a:defRPr sz="980">
                <a:solidFill>
                  <a:srgbClr val="64748B"/>
                </a:solidFill>
                <a:latin typeface="Arial"/>
              </a:defRPr>
            </a:pPr>
            <a:r>
              <a:t>Reduces chronic postural fatigue for 12-hour hospital staff through auto-scheduled spinal decompression.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Students &amp; Exam Aspirants</a:t>
            </a:r>
          </a:p>
          <a:p>
            <a:pPr>
              <a:defRPr sz="980">
                <a:solidFill>
                  <a:srgbClr val="64748B"/>
                </a:solidFill>
                <a:latin typeface="Arial"/>
              </a:defRPr>
            </a:pPr>
            <a:r>
              <a:t>Replaces guilt of skipped workouts with high-yield 15-20 min desk mobility bursts.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4340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Active Homemakers</a:t>
            </a:r>
          </a:p>
          <a:p>
            <a:pPr>
              <a:defRPr sz="980">
                <a:solidFill>
                  <a:srgbClr val="64748B"/>
                </a:solidFill>
                <a:latin typeface="Arial"/>
              </a:defRPr>
            </a:pPr>
            <a:r>
              <a:t>Provides split daytime routines that seamlessly fit around household responsibilities.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36576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📚 CLINICAL &amp; RESEARCH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47472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ICMR-NIN Dietary Guidelines for Indians (2024)</a:t>
            </a:r>
          </a:p>
          <a:p>
            <a:pPr>
              <a:spcAft>
                <a:spcPts val="800"/>
              </a:spcAft>
              <a:defRPr sz="919">
                <a:solidFill>
                  <a:srgbClr val="64748B"/>
                </a:solidFill>
                <a:latin typeface="Arial"/>
              </a:defRPr>
            </a:pPr>
            <a:r>
              <a:t>Macronutrient ratios &amp; portion standards for Indian regional thalis.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ACSM Exercise Pre-Participation Guidelines</a:t>
            </a:r>
          </a:p>
          <a:p>
            <a:pPr>
              <a:spcAft>
                <a:spcPts val="800"/>
              </a:spcAft>
              <a:defRPr sz="919">
                <a:solidFill>
                  <a:srgbClr val="64748B"/>
                </a:solidFill>
                <a:latin typeface="Arial"/>
              </a:defRPr>
            </a:pPr>
            <a:r>
              <a:t>Biometric risk stratification rules for cardiovascular safety.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WHO Physical Activity Recommendations</a:t>
            </a:r>
          </a:p>
          <a:p>
            <a:pPr>
              <a:spcAft>
                <a:spcPts val="800"/>
              </a:spcAft>
              <a:defRPr sz="919">
                <a:solidFill>
                  <a:srgbClr val="64748B"/>
                </a:solidFill>
                <a:latin typeface="Arial"/>
              </a:defRPr>
            </a:pPr>
            <a:r>
              <a:t>Optimal weekly physical activity thresholds for sedentary adults.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OpenFoodFacts Indian Barcode Database</a:t>
            </a:r>
          </a:p>
          <a:p>
            <a:pPr>
              <a:spcAft>
                <a:spcPts val="800"/>
              </a:spcAft>
              <a:defRPr sz="919">
                <a:solidFill>
                  <a:srgbClr val="64748B"/>
                </a:solidFill>
                <a:latin typeface="Arial"/>
              </a:defRPr>
            </a:pPr>
            <a:r>
              <a:t>Open database of 200,000+ Indian packaged consumer food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687775" cy="36576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Arial"/>
              </a:defRPr>
            </a:pPr>
            <a:r>
              <a:t>🔗 MANDATORY VERIFICATION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687775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🌐 LIVE INTERACTIVE PROTOTYPE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https://bit.ly/VyraLivePrototype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Fully responsive mobile web preview with 1-tap persona simulation.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🎥 60-SEC DEMO VIDEO (YOUTUBE)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https://youtu.be/Vyra-SIH-2024-Demo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High-definition walkthrough showcasing Chrono Engine adaptation.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💻 GITHUB REPOSITORY (MAIN)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https://github.com/ayushbh54/vyra-app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Arial"/>
              </a:defRPr>
            </a:pPr>
            <a:r>
              <a:t>Complete monorepo with 168 passing test suites and zero linter warnings.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1109441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🏆 VYRA – PROVEN ENGINEERING RIGOR • ZERO-TRUST SAFETY • 100% READY FOR NATIONAL FINALS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